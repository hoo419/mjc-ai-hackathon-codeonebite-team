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b1802ba5714a99" /><Relationship Type="http://schemas.openxmlformats.org/officeDocument/2006/relationships/extended-properties" Target="/docProps/app.xml" Id="Rd708bb3e5e994509" /><Relationship Type="http://schemas.openxmlformats.org/officeDocument/2006/relationships/officeDocument" Target="/ppt/presentation.xml" Id="Re2526bfdf7a1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ab2acea9a742f1"/>
  </p:sldMasterIdLst>
  <p:notesMasterIdLst>
    <p:notesMasterId xmlns:r="http://schemas.openxmlformats.org/officeDocument/2006/relationships" r:id="R519b462c2122407c"/>
  </p:notesMasterIdLst>
  <p:sldIdLst>
    <p:sldId xmlns:r="http://schemas.openxmlformats.org/officeDocument/2006/relationships" id="256" r:id="Ra0a6fa9b377b4445"/>
    <p:sldId xmlns:r="http://schemas.openxmlformats.org/officeDocument/2006/relationships" id="257" r:id="R9aea9cbc25df4086"/>
    <p:sldId xmlns:r="http://schemas.openxmlformats.org/officeDocument/2006/relationships" id="258" r:id="R2c74e3e2023d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6f142d2b324466" /><Relationship Type="http://schemas.openxmlformats.org/officeDocument/2006/relationships/slideMaster" Target="/ppt/slideMasters/slideMaster1.xml" Id="R28ab2acea9a742f1" /><Relationship Type="http://schemas.openxmlformats.org/officeDocument/2006/relationships/notesMaster" Target="/ppt/notesMasters/notesMaster1.xml" Id="R519b462c2122407c" /><Relationship Type="http://schemas.openxmlformats.org/officeDocument/2006/relationships/presProps" Target="/ppt/presProps.xml" Id="Rdf5b93cc9a014f1e" /><Relationship Type="http://schemas.openxmlformats.org/officeDocument/2006/relationships/tableStyles" Target="/ppt/tableStyles.xml" Id="Rc36c4bee406841b3" /><Relationship Type="http://schemas.openxmlformats.org/officeDocument/2006/relationships/slide" Target="/ppt/slides/slide1.xml" Id="Ra0a6fa9b377b4445" /><Relationship Type="http://schemas.openxmlformats.org/officeDocument/2006/relationships/slide" Target="/ppt/slides/slide2.xml" Id="R9aea9cbc25df4086" /><Relationship Type="http://schemas.openxmlformats.org/officeDocument/2006/relationships/slide" Target="/ppt/slides/slide3.xml" Id="R2c74e3e2023d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6e7a0bb20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3fcad8c6c24163" /><Relationship Type="http://schemas.openxmlformats.org/officeDocument/2006/relationships/notesMaster" Target="/ppt/notesMasters/notesMaster1.xml" Id="R2ae22522af70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a9353610ba4153" /><Relationship Type="http://schemas.openxmlformats.org/officeDocument/2006/relationships/notesMaster" Target="/ppt/notesMasters/notesMaster1.xml" Id="Ra55c517aaef545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e38eb1bc04c89" /><Relationship Type="http://schemas.openxmlformats.org/officeDocument/2006/relationships/notesMaster" Target="/ppt/notesMasters/notesMaster1.xml" Id="R7b65973a95a9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project and team information</a:t>
            </a:r>
          </a:p>
          <a:p xmlns:a="http://schemas.openxmlformats.org/drawingml/2006/main">
            <a:r>
              <a:t>- PROJECT_REQUIREMENTS.md: student campus-agent problem and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frontend/src/app: dashboard, chat, courses, schedule, rooms, counseling pages</a:t>
            </a:r>
          </a:p>
          <a:p xmlns:a="http://schemas.openxmlformats.org/drawingml/2006/main">
            <a:r>
              <a:t>- API_CONTRACT.md: structured course cards and actions</a:t>
            </a:r>
          </a:p>
          <a:p xmlns:a="http://schemas.openxmlformats.org/drawingml/2006/main">
            <a:r>
              <a:t>- backend/app/services: course, chat, enrollment, campus behavior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data/raw/README.md and data/courses.json: 246 unique sections</a:t>
            </a:r>
          </a:p>
          <a:p xmlns:a="http://schemas.openxmlformats.org/drawingml/2006/main">
            <a:r>
              <a:t>- data/courses.json: 516 class sessions</a:t>
            </a:r>
          </a:p>
          <a:p xmlns:a="http://schemas.openxmlformats.org/drawingml/2006/main">
            <a:r>
              <a:t>- backend/app/api/*.py and backend/app/main.py: 14 service endpoints plus health</a:t>
            </a:r>
          </a:p>
          <a:p xmlns:a="http://schemas.openxmlformats.org/drawingml/2006/main">
            <a:r>
              <a:t>- AI_AGENT_RULES.md: LLM non-authoritative fact policy</a:t>
            </a:r>
          </a:p>
          <a:p xmlns:a="http://schemas.openxmlformats.org/drawingml/2006/main">
            <a:r>
              <a:t>- backend/app/repositories and core/config.py: JSON/PostgreSQL swap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a2837afad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7ae442e014599" /><Relationship Type="http://schemas.openxmlformats.org/officeDocument/2006/relationships/slideLayout" Target="/ppt/slideLayouts/slideLayout1.xml" Id="Ra3fb0ec8f3db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fb0ec8f3db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ad642944546b9" /><Relationship Type="http://schemas.openxmlformats.org/officeDocument/2006/relationships/notesSlide" Target="/ppt/notesSlides/notesSlide1.xml" Id="R0c06d6ddc274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2f2fb0c844056" /><Relationship Type="http://schemas.openxmlformats.org/officeDocument/2006/relationships/notesSlide" Target="/ppt/notesSlides/notesSlide2.xml" Id="R9efb61375b554d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95b4b41b44434" /><Relationship Type="http://schemas.openxmlformats.org/officeDocument/2006/relationships/notesSlide" Target="/ppt/notesSlides/notesSlide3.xml" Id="R5e2da485161c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747B1408-5F1D-4AE7-A212-DB6558D8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gnal-dot">
            <a:extLst xmlns:a="http://schemas.openxmlformats.org/drawingml/2006/main">
              <a:ext uri="{FF2B5EF4-FFF2-40B4-BE49-F238E27FC236}">
                <a16:creationId xmlns:a16="http://schemas.microsoft.com/office/drawing/2014/main" id="{2C7D7D06-3372-465F-B27F-3D11214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810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C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D565AC9A-153B-48EE-BA58-B6493BC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C5FF"/>
                </a:solidFill>
              </a:defRPr>
            </a:pPr>
            <a:r>
              <a:rPr sz="1500" b="1">
                <a:solidFill>
                  <a:srgbClr val="47C5FF"/>
                </a:solidFill>
              </a:rPr>
              <a:t>2026 RISE AI 해커톤 · 코드한입조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B760DC-A0D7-4BA1-890F-0B1EEF53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MJC AI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Campus Agent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2911670F-1471-4321-AB4C-3B907EE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8DCFA"/>
                </a:solidFill>
              </a:defRPr>
            </a:pPr>
            <a:r>
              <a:rPr sz="2250">
                <a:solidFill>
                  <a:srgbClr val="C8DCFA"/>
                </a:solidFill>
              </a:rPr>
              <a:t>여러 학교 시스템을 오가는 대신,</a:t>
            </a:r>
          </a:p>
          <a:p xmlns:a="http://schemas.openxmlformats.org/drawingml/2006/main">
            <a:pPr>
              <a:defRPr sz="2250">
                <a:solidFill>
                  <a:srgbClr val="C8DCFA"/>
                </a:solidFill>
              </a:defRPr>
            </a:pPr>
            <a:r>
              <a:rPr sz="2250">
                <a:solidFill>
                  <a:srgbClr val="C8DCFA"/>
                </a:solidFill>
              </a:rPr>
              <a:t>한 번의 질문으로 필요한 다음 행동까지.</a:t>
            </a:r>
          </a:p>
        </p:txBody>
      </p:sp>
      <p:sp>
        <p:nvSpPr>
          <p:cNvPr id="6" name="team">
            <a:extLst xmlns:a="http://schemas.openxmlformats.org/drawingml/2006/main">
              <a:ext uri="{FF2B5EF4-FFF2-40B4-BE49-F238E27FC236}">
                <a16:creationId xmlns:a16="http://schemas.microsoft.com/office/drawing/2014/main" id="{19DA4DB6-89C4-4FBF-8C50-3C145A2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1A8C8"/>
                </a:solidFill>
              </a:defRPr>
            </a:pPr>
            <a:r>
              <a:rPr sz="1350">
                <a:solidFill>
                  <a:srgbClr val="91A8C8"/>
                </a:solidFill>
              </a:rPr>
              <a:t>전자공학과 임채호  ·  AI게임소프트웨어학과 조영남</a:t>
            </a:r>
          </a:p>
        </p:txBody>
      </p:sp>
    </p:spTree>
    <p:extLst>
      <p:ext uri="{BB962C8B-B14F-4D97-AF65-F5344CB8AC3E}">
        <p14:creationId xmlns:p14="http://schemas.microsoft.com/office/powerpoint/2010/main" val="278167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EC9695-E258-429E-9B51-1C5FF396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DEMO JOURNEY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52A588-6256-4A83-9707-E18185DF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3"/>
                </a:solidFill>
              </a:defRPr>
            </a:pPr>
            <a:r>
              <a:rPr sz="3150" b="1">
                <a:solidFill>
                  <a:srgbClr val="071B33"/>
                </a:solidFill>
              </a:rPr>
              <a:t>학생의 질문이 바로 행동으로 이어집니다</a:t>
            </a:r>
          </a:p>
        </p:txBody>
      </p:sp>
      <p:sp>
        <p:nvSpPr>
          <p:cNvPr id="3" name="num-0">
            <a:extLst xmlns:a="http://schemas.openxmlformats.org/drawingml/2006/main">
              <a:ext uri="{FF2B5EF4-FFF2-40B4-BE49-F238E27FC236}">
                <a16:creationId xmlns:a16="http://schemas.microsoft.com/office/drawing/2014/main" id="{72DFCBC1-649A-4126-910F-43416C90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D06712C7-3FDA-4BB0-9025-F7431525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한눈에 확인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6978AB0B-43EA-4D95-AD83-AFD0894F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9"/>
                </a:solidFill>
              </a:defRPr>
            </a:pPr>
            <a:r>
              <a:rPr sz="1575">
                <a:solidFill>
                  <a:srgbClr val="607089"/>
                </a:solidFill>
              </a:rPr>
              <a:t>대시보드에서 다음 수업과 주요 기능 확인</a:t>
            </a:r>
          </a:p>
        </p:txBody>
      </p:sp>
      <p:sp>
        <p:nvSpPr>
          <p:cNvPr id="6" name="line-0">
            <a:extLst xmlns:a="http://schemas.openxmlformats.org/drawingml/2006/main">
              <a:ext uri="{FF2B5EF4-FFF2-40B4-BE49-F238E27FC236}">
                <a16:creationId xmlns:a16="http://schemas.microsoft.com/office/drawing/2014/main" id="{527D8FC7-6634-4989-A3C7-10148899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1A7DC52A-5B96-4421-885E-C2CBE847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C2F97DF-1499-42E3-A26D-A5C5681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실제 강좌 탐색</a:t>
            </a:r>
          </a:p>
        </p:txBody>
      </p:sp>
      <p:sp>
        <p:nvSpPr>
          <p:cNvPr id="9" name="detail-1">
            <a:extLst xmlns:a="http://schemas.openxmlformats.org/drawingml/2006/main">
              <a:ext uri="{FF2B5EF4-FFF2-40B4-BE49-F238E27FC236}">
                <a16:creationId xmlns:a16="http://schemas.microsoft.com/office/drawing/2014/main" id="{92A4409B-56C7-4D96-88EF-ADE5752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9"/>
                </a:solidFill>
              </a:defRPr>
            </a:pPr>
            <a:r>
              <a:rPr sz="1575">
                <a:solidFill>
                  <a:srgbClr val="607089"/>
                </a:solidFill>
              </a:rPr>
              <a:t>246개 분반에서 조건에 맞는 과목 검색</a:t>
            </a:r>
          </a:p>
        </p:txBody>
      </p:sp>
      <p:sp>
        <p:nvSpPr>
          <p:cNvPr id="10" name="line-1">
            <a:extLst xmlns:a="http://schemas.openxmlformats.org/drawingml/2006/main">
              <a:ext uri="{FF2B5EF4-FFF2-40B4-BE49-F238E27FC236}">
                <a16:creationId xmlns:a16="http://schemas.microsoft.com/office/drawing/2014/main" id="{D1E26BBC-4A19-4A16-98F5-A4D3286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00206F28-A234-41F2-BADF-5BAC9952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AE172795-ED2F-47B0-B126-DB1FF67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자연어 질문</a:t>
            </a:r>
          </a:p>
        </p:txBody>
      </p:sp>
      <p:sp>
        <p:nvSpPr>
          <p:cNvPr id="13" name="detail-2">
            <a:extLst xmlns:a="http://schemas.openxmlformats.org/drawingml/2006/main">
              <a:ext uri="{FF2B5EF4-FFF2-40B4-BE49-F238E27FC236}">
                <a16:creationId xmlns:a16="http://schemas.microsoft.com/office/drawing/2014/main" id="{9FF9806D-FAB0-46A3-978D-7FFAD9BE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9"/>
                </a:solidFill>
              </a:defRPr>
            </a:pPr>
            <a:r>
              <a:rPr sz="1575">
                <a:solidFill>
                  <a:srgbClr val="607089"/>
                </a:solidFill>
              </a:rPr>
              <a:t>AI가 의도를 이해하고 검증된 결과를 설명</a:t>
            </a:r>
          </a:p>
        </p:txBody>
      </p:sp>
      <p:sp>
        <p:nvSpPr>
          <p:cNvPr id="14" name="line-2">
            <a:extLst xmlns:a="http://schemas.openxmlformats.org/drawingml/2006/main">
              <a:ext uri="{FF2B5EF4-FFF2-40B4-BE49-F238E27FC236}">
                <a16:creationId xmlns:a16="http://schemas.microsoft.com/office/drawing/2014/main" id="{AA2F8BB7-23D0-4211-8C7F-95F4AA27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-3">
            <a:extLst xmlns:a="http://schemas.openxmlformats.org/drawingml/2006/main">
              <a:ext uri="{FF2B5EF4-FFF2-40B4-BE49-F238E27FC236}">
                <a16:creationId xmlns:a16="http://schemas.microsoft.com/office/drawing/2014/main" id="{C88C5B97-8BFF-4009-844F-FD2F9FC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70DF3F25-73BB-4EA4-A6BE-AD64685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시간표로 연결</a:t>
            </a:r>
          </a:p>
        </p:txBody>
      </p:sp>
      <p:sp>
        <p:nvSpPr>
          <p:cNvPr id="17" name="detail-3">
            <a:extLst xmlns:a="http://schemas.openxmlformats.org/drawingml/2006/main">
              <a:ext uri="{FF2B5EF4-FFF2-40B4-BE49-F238E27FC236}">
                <a16:creationId xmlns:a16="http://schemas.microsoft.com/office/drawing/2014/main" id="{099AFD41-357E-4DFB-84B0-0B10C7F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089"/>
                </a:solidFill>
              </a:defRPr>
            </a:pPr>
            <a:r>
              <a:rPr sz="1575">
                <a:solidFill>
                  <a:srgbClr val="607089"/>
                </a:solidFill>
              </a:rPr>
              <a:t>충돌을 확인하고 개인 시간표에 미리 반영</a:t>
            </a:r>
          </a:p>
        </p:txBody>
      </p:sp>
      <p:sp>
        <p:nvSpPr>
          <p:cNvPr id="18" name="bottom-claim">
            <a:extLst xmlns:a="http://schemas.openxmlformats.org/drawingml/2006/main">
              <a:ext uri="{FF2B5EF4-FFF2-40B4-BE49-F238E27FC236}">
                <a16:creationId xmlns:a16="http://schemas.microsoft.com/office/drawing/2014/main" id="{569D6C9D-8B9F-42D0-9D09-4DA52CF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ttom-text">
            <a:extLst xmlns:a="http://schemas.openxmlformats.org/drawingml/2006/main">
              <a:ext uri="{FF2B5EF4-FFF2-40B4-BE49-F238E27FC236}">
                <a16:creationId xmlns:a16="http://schemas.microsoft.com/office/drawing/2014/main" id="{1C08C54F-C824-4686-BC68-991A34BA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검색 결과를 보여주는 데서 끝나지 않고, 시간표·강의실·상담으로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183434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D6E43836-5A20-4029-90F9-80DA7EA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C5FF"/>
                </a:solidFill>
              </a:defRPr>
            </a:pPr>
            <a:r>
              <a:rPr sz="1275" b="1">
                <a:solidFill>
                  <a:srgbClr val="47C5FF"/>
                </a:solidFill>
              </a:rPr>
              <a:t>WHY IT IS TRUSTWORTHY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05BAB5-6872-497A-BD0F-B4F7817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AI는 설명하고, 학교 사실은 데이터가 결정합니다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579FD5F0-2441-4459-B18E-8A9F0CD9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246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8086EC3-4905-4276-BE06-2C34728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FC7E7"/>
                </a:solidFill>
              </a:defRPr>
            </a:pPr>
            <a:r>
              <a:rPr sz="1350">
                <a:solidFill>
                  <a:srgbClr val="AFC7E7"/>
                </a:solidFill>
              </a:rPr>
              <a:t>실제 고유 분반</a:t>
            </a:r>
          </a:p>
        </p:txBody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E040127E-D83D-4943-9C65-4330140F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47C5FF"/>
                </a:solidFill>
              </a:defRPr>
            </a:pPr>
            <a:r>
              <a:rPr sz="4050" b="1">
                <a:solidFill>
                  <a:srgbClr val="47C5FF"/>
                </a:solidFill>
              </a:rPr>
              <a:t>516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865EB66-E55C-4B00-90BE-F494A13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FC7E7"/>
                </a:solidFill>
              </a:defRPr>
            </a:pPr>
            <a:r>
              <a:rPr sz="1350">
                <a:solidFill>
                  <a:srgbClr val="AFC7E7"/>
                </a:solidFill>
              </a:rPr>
              <a:t>보존된 수업 세션</a:t>
            </a:r>
          </a:p>
        </p:txBody>
      </p:sp>
      <p:sp>
        <p:nvSpPr>
          <p:cNvPr id="7" name="metric-2">
            <a:extLst xmlns:a="http://schemas.openxmlformats.org/drawingml/2006/main">
              <a:ext uri="{FF2B5EF4-FFF2-40B4-BE49-F238E27FC236}">
                <a16:creationId xmlns:a16="http://schemas.microsoft.com/office/drawing/2014/main" id="{65E6C28D-81EC-43FE-AD06-CEBCB3D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14+1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C0C7A1D-18CE-42F7-8092-9515EF2E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FC7E7"/>
                </a:solidFill>
              </a:defRPr>
            </a:pPr>
            <a:r>
              <a:rPr sz="1350">
                <a:solidFill>
                  <a:srgbClr val="AFC7E7"/>
                </a:solidFill>
              </a:rPr>
              <a:t>서비스 API + Health</a:t>
            </a:r>
          </a:p>
        </p:txBody>
      </p:sp>
      <p:sp>
        <p:nvSpPr>
          <p:cNvPr id="9" name="metric-3">
            <a:extLst xmlns:a="http://schemas.openxmlformats.org/drawingml/2006/main">
              <a:ext uri="{FF2B5EF4-FFF2-40B4-BE49-F238E27FC236}">
                <a16:creationId xmlns:a16="http://schemas.microsoft.com/office/drawing/2014/main" id="{4D1B7011-2352-4F65-89D9-57E93247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C6F0CFA-0A28-447A-80EB-2C7753A5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FC7E7"/>
                </a:solidFill>
              </a:defRPr>
            </a:pPr>
            <a:r>
              <a:rPr sz="1350">
                <a:solidFill>
                  <a:srgbClr val="AFC7E7"/>
                </a:solidFill>
              </a:rPr>
              <a:t>완성된 사용자 화면</a:t>
            </a:r>
          </a:p>
        </p:txBody>
      </p:sp>
      <p:sp>
        <p:nvSpPr>
          <p:cNvPr id="11" name="principle">
            <a:extLst xmlns:a="http://schemas.openxmlformats.org/drawingml/2006/main">
              <a:ext uri="{FF2B5EF4-FFF2-40B4-BE49-F238E27FC236}">
                <a16:creationId xmlns:a16="http://schemas.microsoft.com/office/drawing/2014/main" id="{81F8B0AB-B168-4012-8907-87EBE99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2C4E"/>
          </a:solidFill>
          <a:ln xmlns:a="http://schemas.openxmlformats.org/drawingml/2006/main" w="9525">
            <a:solidFill>
              <a:srgbClr val="244A74"/>
            </a:solidFill>
            <a:prstDash val="solid"/>
          </a:ln>
        </p:spPr>
      </p:sp>
      <p:sp>
        <p:nvSpPr>
          <p:cNvPr id="12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42E99F06-3A94-4A18-A045-A731AEF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7C5FF"/>
                </a:solidFill>
              </a:defRPr>
            </a:pPr>
            <a:r>
              <a:rPr sz="1875" b="1">
                <a:solidFill>
                  <a:srgbClr val="47C5FF"/>
                </a:solidFill>
              </a:rPr>
              <a:t>신뢰성 원칙</a:t>
            </a:r>
          </a:p>
        </p:txBody>
      </p:sp>
      <p:sp>
        <p:nvSpPr>
          <p:cNvPr id="13" name="principle-body">
            <a:extLst xmlns:a="http://schemas.openxmlformats.org/drawingml/2006/main">
              <a:ext uri="{FF2B5EF4-FFF2-40B4-BE49-F238E27FC236}">
                <a16:creationId xmlns:a16="http://schemas.microsoft.com/office/drawing/2014/main" id="{D6468CD0-F140-4629-A7F2-CA2917E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정원 · 시간 · 강의실 · 충돌 여부는 코드/API/DB로 확인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LLM은 의도 파악과 결과 설명만 담당 · 확인 불가 시 추측하지 않음</a:t>
            </a:r>
          </a:p>
        </p:txBody>
      </p:sp>
      <p:sp>
        <p:nvSpPr>
          <p:cNvPr id="14" name="storage">
            <a:extLst xmlns:a="http://schemas.openxmlformats.org/drawingml/2006/main">
              <a:ext uri="{FF2B5EF4-FFF2-40B4-BE49-F238E27FC236}">
                <a16:creationId xmlns:a16="http://schemas.microsoft.com/office/drawing/2014/main" id="{261B196A-1057-4A95-9113-13E28B8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JSON ↔ PostgreSQL 교체 구조</a:t>
            </a:r>
          </a:p>
        </p:txBody>
      </p:sp>
      <p:sp>
        <p:nvSpPr>
          <p:cNvPr id="15" name="closing">
            <a:extLst xmlns:a="http://schemas.openxmlformats.org/drawingml/2006/main">
              <a:ext uri="{FF2B5EF4-FFF2-40B4-BE49-F238E27FC236}">
                <a16:creationId xmlns:a16="http://schemas.microsoft.com/office/drawing/2014/main" id="{F3409697-EE4F-4811-9B0D-9E14C78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7C5FF"/>
                </a:solidFill>
              </a:defRPr>
            </a:pPr>
            <a:r>
              <a:rPr sz="2100" b="1">
                <a:solidFill>
                  <a:srgbClr val="47C5FF"/>
                </a:solidFill>
              </a:rPr>
              <a:t>학생의 탐색 비용을 줄이는</a:t>
            </a:r>
          </a:p>
          <a:p xmlns:a="http://schemas.openxmlformats.org/drawingml/2006/main">
            <a:pPr algn="r">
              <a:defRPr sz="2100" b="1">
                <a:solidFill>
                  <a:srgbClr val="47C5FF"/>
                </a:solidFill>
              </a:defRPr>
            </a:pPr>
            <a:r>
              <a:rPr sz="2100" b="1">
                <a:solidFill>
                  <a:srgbClr val="47C5FF"/>
                </a:solidFill>
              </a:rPr>
              <a:t>확장 가능한 캠퍼스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881230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2026-08-06T23:42:43.7250000Z</dcterms:created>
  <dcterms:modified xsi:type="dcterms:W3CDTF">2026-08-06T23:42:43.7250000Z</dcterms:modified>
</coreProperties>
</file>